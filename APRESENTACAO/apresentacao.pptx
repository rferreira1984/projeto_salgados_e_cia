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8" r:id="rId5"/>
    <p:sldId id="259" r:id="rId6"/>
    <p:sldId id="269" r:id="rId7"/>
    <p:sldId id="260" r:id="rId8"/>
    <p:sldId id="261" r:id="rId9"/>
    <p:sldId id="262" r:id="rId10"/>
    <p:sldId id="263" r:id="rId11"/>
    <p:sldId id="270" r:id="rId12"/>
    <p:sldId id="265" r:id="rId13"/>
    <p:sldId id="266" r:id="rId14"/>
    <p:sldId id="267" r:id="rId15"/>
  </p:sldIdLst>
  <p:sldSz cx="9144000" cy="5143500" type="screen16x9"/>
  <p:notesSz cx="5143500" cy="9144000"/>
  <p:embeddedFontLst>
    <p:embeddedFont>
      <p:font typeface="Inter" panose="020B0604020202020204" charset="0"/>
      <p:regular r:id="rId17"/>
    </p:embeddedFont>
    <p:embeddedFont>
      <p:font typeface="Inter 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132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0427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C916A-FBC2-EB83-A952-563D25F32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A165B9-659D-2A38-AD08-78672B1AA3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D57092-DCF5-1FC5-90CC-92978A5B7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2132C1-AC64-24D8-8EDB-BB7E94D2F0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77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BD442-0DBD-000B-B793-3144B90BD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A815F5-1BF0-7E9C-4E8A-5C88824CAA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53F3F3-EA80-5135-C806-9B7DB6706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B0D75-B7E4-9A29-84BA-62294297BB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5344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92406-4A50-02E1-61F5-D9F72806C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B57CB5-19B3-FF64-1563-A3430A3B95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B26ED9-F7A3-AEBE-8FCB-3F8D749FD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94C46-F2B3-B79E-17E0-E76D70F3B1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1328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-sitepedidos.hjs9cn.easypanel.host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5343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Sistema de Atendimento com IA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196108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Salgados &amp; Cia — WhatsApp + Site Externo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925119" y="3117428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solução completa e integrada de gestão de pedidos para padarias, combinando atendimento conversacional por IA no WhatsApp com um site moderno de autoatendimento digital.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8860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Visão Geral do Projeto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127702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Dois Canais. Um Ecossistema Integrado.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496119" y="1932608"/>
            <a:ext cx="8151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sistema foi projetado para atender clientes da </a:t>
            </a: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Salgados &amp; Cia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por dois canais complementares, totalmente sincronizados em um banco de dados unificado. O cliente escolhe como prefere fazer seu pedido — e a experiência é igualmente fluida em ambos os canais.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772519"/>
            <a:ext cx="8151763" cy="1279996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00881" y="2777282"/>
            <a:ext cx="4071119" cy="1270471"/>
          </a:xfrm>
          <a:custGeom>
            <a:avLst/>
            <a:gdLst/>
            <a:ahLst/>
            <a:cxnLst/>
            <a:rect l="l" t="t" r="r" b="b"/>
            <a:pathLst>
              <a:path w="4071119" h="1270471">
                <a:moveTo>
                  <a:pt x="49619" y="0"/>
                </a:moveTo>
                <a:lnTo>
                  <a:pt x="4071119" y="0"/>
                </a:lnTo>
                <a:lnTo>
                  <a:pt x="4071119" y="1270471"/>
                </a:lnTo>
                <a:lnTo>
                  <a:pt x="49619" y="1270471"/>
                </a:lnTo>
                <a:arcTo wR="49619" hR="49619" stAng="5400000" swAng="5400000"/>
                <a:lnTo>
                  <a:pt x="0" y="49619"/>
                </a:lnTo>
                <a:arcTo wR="49619" hR="49619" stAng="10800000" swAng="5400000"/>
                <a:close/>
              </a:path>
            </a:pathLst>
          </a:cu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2640" y="2919040"/>
            <a:ext cx="357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WhatsApp com IA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2640" y="3225552"/>
            <a:ext cx="357500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Atendente virtual inteligente que conduz o cliente por todo o fluxo de pedido — identificação, cardápio, fechamento, logística e finalização.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2777282"/>
            <a:ext cx="4071119" cy="1270471"/>
          </a:xfrm>
          <a:custGeom>
            <a:avLst/>
            <a:gdLst/>
            <a:ahLst/>
            <a:cxnLst/>
            <a:rect l="l" t="t" r="r" b="b"/>
            <a:pathLst>
              <a:path w="4071119" h="1270471">
                <a:moveTo>
                  <a:pt x="0" y="0"/>
                </a:moveTo>
                <a:lnTo>
                  <a:pt x="4021500" y="0"/>
                </a:lnTo>
                <a:arcTo wR="49619" hR="49619" stAng="16200000" swAng="5400000"/>
                <a:lnTo>
                  <a:pt x="4071119" y="1220853"/>
                </a:lnTo>
                <a:arcTo wR="49619" hR="49619" stAng="0" swAng="5400000"/>
                <a:lnTo>
                  <a:pt x="0" y="1270471"/>
                </a:lnTo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572000" y="2777282"/>
            <a:ext cx="19050" cy="1270471"/>
          </a:xfrm>
          <a:prstGeom prst="roundRect">
            <a:avLst>
              <a:gd name="adj" fmla="val 50000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926360" y="2919040"/>
            <a:ext cx="357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Site de Autoatendimento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26360" y="3225552"/>
            <a:ext cx="357500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Cardápio digital interativo e responsivo onde o cliente monta o pedido por conta própria, com carrinho, checkout e cálculo automático de entrega.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94820" y="3235300"/>
            <a:ext cx="354360" cy="354360"/>
          </a:xfrm>
          <a:prstGeom prst="roundRect">
            <a:avLst>
              <a:gd name="adj" fmla="val 16803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83373" y="3323853"/>
            <a:ext cx="177180" cy="1771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408045" y="4842942"/>
            <a:ext cx="636761" cy="119063"/>
          </a:xfrm>
          <a:prstGeom prst="rect">
            <a:avLst/>
          </a:prstGeom>
          <a:noFill/>
          <a:ln/>
        </p:spPr>
        <p:txBody>
          <a:bodyPr wrap="none" lIns="0" tIns="44657" rIns="74428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9008"/>
            <a:ext cx="4722763" cy="733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Fluxo de Atendimento via WhatsApp com IA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496119" y="1278508"/>
            <a:ext cx="4722763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 iniciar uma conversa no WhatsApp, o cliente é apresentado imediatamente às duas opções de atendimento. A partir da escolha, o sistema conduz toda a jornada de forma automatizada e personalizada.</a:t>
            </a:r>
            <a:endParaRPr lang="en-US" sz="9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902842"/>
            <a:ext cx="4722763" cy="21251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07554" y="1999906"/>
            <a:ext cx="826463" cy="12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Identificação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1207554" y="2163950"/>
            <a:ext cx="826463" cy="186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Detectar cliente e contexto</a:t>
            </a:r>
            <a:endParaRPr lang="en-US" sz="600" dirty="0"/>
          </a:p>
        </p:txBody>
      </p:sp>
      <p:sp>
        <p:nvSpPr>
          <p:cNvPr id="8" name="Text 4"/>
          <p:cNvSpPr/>
          <p:nvPr/>
        </p:nvSpPr>
        <p:spPr>
          <a:xfrm>
            <a:off x="2024935" y="3593799"/>
            <a:ext cx="831004" cy="12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Cardápio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2024935" y="3757843"/>
            <a:ext cx="831004" cy="186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Apresentar menu digital personalizado</a:t>
            </a:r>
            <a:endParaRPr lang="en-US" sz="600" dirty="0"/>
          </a:p>
        </p:txBody>
      </p:sp>
      <p:sp>
        <p:nvSpPr>
          <p:cNvPr id="10" name="Text 6"/>
          <p:cNvSpPr/>
          <p:nvPr/>
        </p:nvSpPr>
        <p:spPr>
          <a:xfrm>
            <a:off x="2833234" y="1984012"/>
            <a:ext cx="826463" cy="12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Fechamento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2833234" y="2148056"/>
            <a:ext cx="826463" cy="186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Confirmar itens e pagamento</a:t>
            </a:r>
            <a:endParaRPr lang="en-US" sz="600" dirty="0"/>
          </a:p>
        </p:txBody>
      </p:sp>
      <p:sp>
        <p:nvSpPr>
          <p:cNvPr id="12" name="Text 8"/>
          <p:cNvSpPr/>
          <p:nvPr/>
        </p:nvSpPr>
        <p:spPr>
          <a:xfrm>
            <a:off x="3650615" y="3593799"/>
            <a:ext cx="826463" cy="12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Logística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650615" y="3757843"/>
            <a:ext cx="826463" cy="186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Organizar entrega e rastreamento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496119" y="4137347"/>
            <a:ext cx="4722763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atendimento conversacional com IA garante que nenhum cliente fique sem resposta — mesmo fora do horário comercial — reduzindo a necessidade de operadores humanos e aumentando a capacidade de atendimento simultâneo.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978226" y="4842942"/>
            <a:ext cx="637580" cy="119063"/>
          </a:xfrm>
          <a:prstGeom prst="rect">
            <a:avLst/>
          </a:prstGeom>
          <a:noFill/>
          <a:ln/>
        </p:spPr>
        <p:txBody>
          <a:bodyPr wrap="none" lIns="0" tIns="44657" rIns="74428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9CB28-9178-A2D8-A369-B89688A22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C9DB5A7-46B7-A611-6E47-E159746BD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DFE6F92-96F7-6272-4630-C4915FC855C9}"/>
              </a:ext>
            </a:extLst>
          </p:cNvPr>
          <p:cNvSpPr/>
          <p:nvPr/>
        </p:nvSpPr>
        <p:spPr>
          <a:xfrm>
            <a:off x="496119" y="399008"/>
            <a:ext cx="4722763" cy="733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Fluxo de Atendimento via WhatsApp com IA</a:t>
            </a:r>
            <a:endParaRPr lang="en-US" sz="2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328A8AE-EB1B-CF38-9DAD-A8C34748BBF6}"/>
              </a:ext>
            </a:extLst>
          </p:cNvPr>
          <p:cNvSpPr/>
          <p:nvPr/>
        </p:nvSpPr>
        <p:spPr>
          <a:xfrm>
            <a:off x="496119" y="1278508"/>
            <a:ext cx="4722763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 iniciar uma conversa no WhatsApp, o cliente é apresentado imediatamente às duas opções de </a:t>
            </a:r>
            <a:r>
              <a:rPr lang="en-US" sz="9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atendimeto</a:t>
            </a: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A partir da escolha, o sistema conduz toda a jornada de forma automatizada e personalizada.</a:t>
            </a:r>
            <a:endParaRPr lang="en-US" sz="9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8F75FB5-8F9C-2D38-0415-A7188AD5EC48}"/>
              </a:ext>
            </a:extLst>
          </p:cNvPr>
          <p:cNvSpPr/>
          <p:nvPr/>
        </p:nvSpPr>
        <p:spPr>
          <a:xfrm>
            <a:off x="605798" y="2020340"/>
            <a:ext cx="826463" cy="12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Identificação</a:t>
            </a:r>
            <a:endParaRPr lang="en-US" sz="8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684EC41-9CE7-75FA-4BB9-63309F041215}"/>
              </a:ext>
            </a:extLst>
          </p:cNvPr>
          <p:cNvSpPr/>
          <p:nvPr/>
        </p:nvSpPr>
        <p:spPr>
          <a:xfrm>
            <a:off x="605798" y="2184384"/>
            <a:ext cx="826463" cy="186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Detectar cliente e contexto</a:t>
            </a:r>
            <a:endParaRPr lang="en-US" sz="6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393B6E8-1B21-AC94-8DAD-2AB878A7ED35}"/>
              </a:ext>
            </a:extLst>
          </p:cNvPr>
          <p:cNvSpPr/>
          <p:nvPr/>
        </p:nvSpPr>
        <p:spPr>
          <a:xfrm>
            <a:off x="1894307" y="3633771"/>
            <a:ext cx="831004" cy="12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Cardápio</a:t>
            </a:r>
            <a:endParaRPr lang="en-US" sz="8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F790829-52AE-5F00-4C78-4E952EC15AEB}"/>
              </a:ext>
            </a:extLst>
          </p:cNvPr>
          <p:cNvSpPr/>
          <p:nvPr/>
        </p:nvSpPr>
        <p:spPr>
          <a:xfrm>
            <a:off x="1894307" y="3797815"/>
            <a:ext cx="831004" cy="186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Apresentar menu digital personalizado</a:t>
            </a:r>
            <a:endParaRPr lang="en-US" sz="6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5F80330D-DFAF-43D6-8C66-47F60FD1E49A}"/>
              </a:ext>
            </a:extLst>
          </p:cNvPr>
          <p:cNvSpPr/>
          <p:nvPr/>
        </p:nvSpPr>
        <p:spPr>
          <a:xfrm>
            <a:off x="3031306" y="1946311"/>
            <a:ext cx="826463" cy="12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Fechamento</a:t>
            </a:r>
            <a:endParaRPr lang="en-US" sz="8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E076CE57-5213-851E-1EF6-8F585A0DE069}"/>
              </a:ext>
            </a:extLst>
          </p:cNvPr>
          <p:cNvSpPr/>
          <p:nvPr/>
        </p:nvSpPr>
        <p:spPr>
          <a:xfrm>
            <a:off x="3031306" y="2110355"/>
            <a:ext cx="826463" cy="186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Confirmar itens e pagamento</a:t>
            </a:r>
            <a:endParaRPr lang="en-US" sz="6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C9A38694-3234-D390-CF3C-D26270C02BE9}"/>
              </a:ext>
            </a:extLst>
          </p:cNvPr>
          <p:cNvSpPr/>
          <p:nvPr/>
        </p:nvSpPr>
        <p:spPr>
          <a:xfrm>
            <a:off x="4277922" y="3628140"/>
            <a:ext cx="826463" cy="12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Logística</a:t>
            </a:r>
            <a:endParaRPr lang="en-US" sz="8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5A6422FB-DAC6-D7C3-3901-1C95AAFB7551}"/>
              </a:ext>
            </a:extLst>
          </p:cNvPr>
          <p:cNvSpPr/>
          <p:nvPr/>
        </p:nvSpPr>
        <p:spPr>
          <a:xfrm>
            <a:off x="4277922" y="3792184"/>
            <a:ext cx="826463" cy="186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Organizar entrega e rastreamento</a:t>
            </a:r>
            <a:endParaRPr lang="en-US" sz="6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745EF09B-65BE-E1C6-CAC9-353C1BF9A50B}"/>
              </a:ext>
            </a:extLst>
          </p:cNvPr>
          <p:cNvSpPr/>
          <p:nvPr/>
        </p:nvSpPr>
        <p:spPr>
          <a:xfrm>
            <a:off x="496119" y="4137347"/>
            <a:ext cx="4722763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atendimento conversacional com IA garante que nenhum cliente fique sem resposta — mesmo fora do horário comercial — reduzindo a necessidade de operadores humanos e aumentando a capacidade de atendimento simultâneo.</a:t>
            </a:r>
            <a:endParaRPr lang="en-US" sz="9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40D82BBA-AA28-B875-3178-F7FBF8CF590A}"/>
              </a:ext>
            </a:extLst>
          </p:cNvPr>
          <p:cNvSpPr/>
          <p:nvPr/>
        </p:nvSpPr>
        <p:spPr>
          <a:xfrm>
            <a:off x="4978226" y="4842942"/>
            <a:ext cx="637580" cy="119063"/>
          </a:xfrm>
          <a:prstGeom prst="rect">
            <a:avLst/>
          </a:prstGeom>
          <a:noFill/>
          <a:ln/>
        </p:spPr>
        <p:txBody>
          <a:bodyPr wrap="none" lIns="0" tIns="44657" rIns="74428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50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8DCBCFA-3CEB-E302-2F05-7762295CC04C}"/>
              </a:ext>
            </a:extLst>
          </p:cNvPr>
          <p:cNvSpPr txBox="1"/>
          <p:nvPr/>
        </p:nvSpPr>
        <p:spPr>
          <a:xfrm>
            <a:off x="5466806" y="47548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4CB66C09-B924-2A42-25B6-F2B6A0AAF5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2387027"/>
            <a:ext cx="1087357" cy="137875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A491C742-E55F-3B12-1F97-CAEE22DA5A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4448" y="1840789"/>
            <a:ext cx="945886" cy="17530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E3CED0EB-F0D1-4583-5A6D-C877C7C140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4872" y="2292619"/>
            <a:ext cx="925797" cy="15743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6F404A03-E623-ADCD-8AAE-DAF453BCD8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0021" y="2034061"/>
            <a:ext cx="962264" cy="15175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42891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4515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Site Externo de Autoatendimento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1068958"/>
            <a:ext cx="815176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site de pedidos é uma experiência de compra completa, desenvolvida para funcionar perfeitamente em celular, tablet e desktop. Totalmente integrado à mesma base de dados do WhatsApp.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621036"/>
            <a:ext cx="332259" cy="33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109043"/>
            <a:ext cx="399797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 Responsivo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96119" y="2391445"/>
            <a:ext cx="3997970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adaptada para qualquer dispositivo. O cliente acessa pelo celular sem instalar nada — basta clicar no link enviado pelo WhatsApp.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9837" y="1621036"/>
            <a:ext cx="332259" cy="3322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49837" y="2109043"/>
            <a:ext cx="399804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Cardápio Completo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649837" y="2391445"/>
            <a:ext cx="3998044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Categorias organizadas: salgados fritos, assados, doces, bolos e kits festa — com fotos, descrições e preços atualizados em tempo real.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258517"/>
            <a:ext cx="332259" cy="33225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746525"/>
            <a:ext cx="399797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Carrinho Inteligente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96119" y="4028926"/>
            <a:ext cx="3997970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Cálculo automático do pedido, endereço de entrega com taxa por CEP e múltiplas formas de pagamento disponíveis no checkout.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9837" y="3258517"/>
            <a:ext cx="332259" cy="33225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49837" y="3746525"/>
            <a:ext cx="399804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Banco de Dados Unificado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4649837" y="4028926"/>
            <a:ext cx="3998044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 feitos pelo site e pelo WhatsApp ficam registrados no mesmo sistema, facilitando a gestão centralizada da padaria.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8404399" y="4842942"/>
            <a:ext cx="640407" cy="119063"/>
          </a:xfrm>
          <a:prstGeom prst="rect">
            <a:avLst/>
          </a:prstGeom>
          <a:noFill/>
          <a:ln/>
        </p:spPr>
        <p:txBody>
          <a:bodyPr wrap="none" lIns="0" tIns="44657" rIns="74428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2DAD1-C89B-03C0-35A8-56EA32C96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1F2AB0A-1BB5-1912-E52F-FEF359C46C57}"/>
              </a:ext>
            </a:extLst>
          </p:cNvPr>
          <p:cNvSpPr/>
          <p:nvPr/>
        </p:nvSpPr>
        <p:spPr>
          <a:xfrm>
            <a:off x="496119" y="404515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Site Externo de Autoatendimento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7B91C99-8E40-2017-05FE-27FD1840A972}"/>
              </a:ext>
            </a:extLst>
          </p:cNvPr>
          <p:cNvSpPr/>
          <p:nvPr/>
        </p:nvSpPr>
        <p:spPr>
          <a:xfrm>
            <a:off x="496119" y="1068958"/>
            <a:ext cx="815176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site de pedidos é uma experiência de compra completa, desenvolvida para funcionar perfeitamente em celular, tablet e desktop. Totalmente integrado à mesma base de dados do WhatsApp.</a:t>
            </a:r>
            <a:endParaRPr lang="en-US" sz="10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D49045F5-72C9-8C22-2E83-1FEA8A988747}"/>
              </a:ext>
            </a:extLst>
          </p:cNvPr>
          <p:cNvSpPr/>
          <p:nvPr/>
        </p:nvSpPr>
        <p:spPr>
          <a:xfrm>
            <a:off x="8404399" y="4842942"/>
            <a:ext cx="640407" cy="119063"/>
          </a:xfrm>
          <a:prstGeom prst="rect">
            <a:avLst/>
          </a:prstGeom>
          <a:noFill/>
          <a:ln/>
        </p:spPr>
        <p:txBody>
          <a:bodyPr wrap="none" lIns="0" tIns="44657" rIns="74428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750" dirty="0"/>
          </a:p>
        </p:txBody>
      </p:sp>
      <p:sp>
        <p:nvSpPr>
          <p:cNvPr id="18" name="CaixaDeTexto 17">
            <a:hlinkClick r:id="rId3"/>
            <a:extLst>
              <a:ext uri="{FF2B5EF4-FFF2-40B4-BE49-F238E27FC236}">
                <a16:creationId xmlns:a16="http://schemas.microsoft.com/office/drawing/2014/main" id="{32C56A66-8ED5-8D56-9ADD-EE3FD75BD0CD}"/>
              </a:ext>
            </a:extLst>
          </p:cNvPr>
          <p:cNvSpPr txBox="1"/>
          <p:nvPr/>
        </p:nvSpPr>
        <p:spPr>
          <a:xfrm>
            <a:off x="236699" y="436965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Acesso ao Site Demonstração</a:t>
            </a:r>
            <a:endParaRPr lang="pt-BR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2D487DE-5FFE-1210-D4E8-8AB0EEFBCAEB}"/>
              </a:ext>
            </a:extLst>
          </p:cNvPr>
          <p:cNvSpPr txBox="1"/>
          <p:nvPr/>
        </p:nvSpPr>
        <p:spPr>
          <a:xfrm>
            <a:off x="236699" y="465827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https://site-sitepedidos.hjs9cn</a:t>
            </a:r>
            <a:r>
              <a:rPr lang="pt-BR" dirty="0"/>
              <a:t>.</a:t>
            </a:r>
            <a:r>
              <a:rPr lang="pt-BR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easypanel.host/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D6F73163-5633-B43C-00EF-CC67598EB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6428" y="1509716"/>
            <a:ext cx="3589896" cy="2715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049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1247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Tecnologias Envolvidas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085552"/>
            <a:ext cx="815176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solução combina ferramentas modernas e robustas para garantir escalabilidade, confiabilidade e facilidade de manutenção. A arquitetura low-code agiliza o desenvolvimento e reduz custos operacionais futuros.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608386"/>
            <a:ext cx="2639616" cy="15356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5995" y="1751112"/>
            <a:ext cx="229701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WhatsApp Evolution API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95995" y="2021607"/>
            <a:ext cx="2297013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Canal oficial de comunicação com clientes, com suporte a mensagens automatizadas e integração nativa com plataformas de automação.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2118" y="1608386"/>
            <a:ext cx="2639690" cy="15356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51994" y="1751112"/>
            <a:ext cx="229708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n8n — Automação Low-Code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3451994" y="2021607"/>
            <a:ext cx="2297088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 de orquestração de fluxos que conecta todos os módulos do sistema: </a:t>
            </a:r>
            <a:r>
              <a:rPr lang="en-US" sz="10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Atendente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Virtual, banco de dados, site e integrações externas.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8191" y="1608386"/>
            <a:ext cx="2639690" cy="153560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08068" y="1751112"/>
            <a:ext cx="229708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IA Conversacional (LLM)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6208068" y="2021607"/>
            <a:ext cx="2297088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de linguagem avançado responsável pelo atendimento humanizado no WhatsApp, capaz de entender pedidos complexos e variações de linguagem.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260378"/>
            <a:ext cx="2639616" cy="13396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5995" y="3403104"/>
            <a:ext cx="229701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React / Next.js ou WordPress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695995" y="3673599"/>
            <a:ext cx="2297013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Tecnologia web moderna para o site de autoatendimento, garantindo velocidade, SEO e experiência de usuário de alto nível.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2118" y="3260378"/>
            <a:ext cx="2639690" cy="133967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451994" y="3403104"/>
            <a:ext cx="229708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 de Geolocalização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3451994" y="3673599"/>
            <a:ext cx="2297088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Cálculo automático da taxa de entrega com base no CEP informado pelo cliente, eliminando erros manuais e acelerando o checkout.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8409682" y="4842942"/>
            <a:ext cx="635124" cy="119063"/>
          </a:xfrm>
          <a:prstGeom prst="rect">
            <a:avLst/>
          </a:prstGeom>
          <a:noFill/>
          <a:ln/>
        </p:spPr>
        <p:txBody>
          <a:bodyPr wrap="none" lIns="0" tIns="44657" rIns="74428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18593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Investimento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3925119" y="1996753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Orçamento de Implantação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652340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investimento único de implantação está dividido em dois módulos independentes, permitindo que o cliente opte por implantar apenas o </a:t>
            </a:r>
            <a:r>
              <a:rPr lang="en-US" sz="11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Atendente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Virtual ou a solução completa com site externo.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407003" y="4842942"/>
            <a:ext cx="637803" cy="119063"/>
          </a:xfrm>
          <a:prstGeom prst="rect">
            <a:avLst/>
          </a:prstGeom>
          <a:noFill/>
          <a:ln/>
        </p:spPr>
        <p:txBody>
          <a:bodyPr wrap="none" lIns="0" tIns="44657" rIns="74428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4532"/>
            <a:ext cx="8151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Detalhamento dos Módulos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050578"/>
            <a:ext cx="3929955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Módulo 1 —  </a:t>
            </a:r>
            <a:r>
              <a:rPr lang="en-US" sz="115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Atendente</a:t>
            </a: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Virtual IA WhatsApp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96119" y="1350913"/>
            <a:ext cx="3929955" cy="2621161"/>
          </a:xfrm>
          <a:prstGeom prst="roundRect">
            <a:avLst>
              <a:gd name="adj" fmla="val 191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96119" y="2017663"/>
            <a:ext cx="3929955" cy="74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96119" y="2682032"/>
            <a:ext cx="3929955" cy="74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96119" y="3170039"/>
            <a:ext cx="3929955" cy="74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96119" y="3658046"/>
            <a:ext cx="3929955" cy="74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20464" y="1420937"/>
            <a:ext cx="1721048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Desenvolvimento e configuração do fluxo IA (n8n + integração)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80680" y="1420937"/>
            <a:ext cx="217824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R$ 3.500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0464" y="2085305"/>
            <a:ext cx="1721048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Configuração do banco de dados (pedidos, clientes, cardápio)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80680" y="2085305"/>
            <a:ext cx="217824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R$ 600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0464" y="2749674"/>
            <a:ext cx="1721048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</a:t>
            </a: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WhatsApp</a:t>
            </a:r>
          </a:p>
          <a:p>
            <a:pPr marL="0" indent="0" algn="l">
              <a:lnSpc>
                <a:spcPct val="123000"/>
              </a:lnSpc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80680" y="2749674"/>
            <a:ext cx="217824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R$ 500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0464" y="3237681"/>
            <a:ext cx="1721048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Homologação e testes do </a:t>
            </a:r>
            <a:r>
              <a:rPr lang="en-US" sz="9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Atendente</a:t>
            </a: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Virtual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80680" y="3237681"/>
            <a:ext cx="217824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R$ 800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0464" y="3725689"/>
            <a:ext cx="217824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Subtotal </a:t>
            </a:r>
            <a:r>
              <a:rPr lang="en-US" sz="9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Atendente</a:t>
            </a: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Virtual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80680" y="3725689"/>
            <a:ext cx="217824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R$ 5.400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22688" y="1050578"/>
            <a:ext cx="3929955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Módulo 2 — Site Externo de Pedidos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22688" y="1350913"/>
            <a:ext cx="3929955" cy="2268438"/>
          </a:xfrm>
          <a:prstGeom prst="roundRect">
            <a:avLst>
              <a:gd name="adj" fmla="val 221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722688" y="2017663"/>
            <a:ext cx="3929955" cy="74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4722688" y="2505670"/>
            <a:ext cx="3929955" cy="74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4722688" y="2993678"/>
            <a:ext cx="3929955" cy="74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4722688" y="3305324"/>
            <a:ext cx="3929955" cy="74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847034" y="1420937"/>
            <a:ext cx="1721048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Desenvolvimento do site responsivo (cardápio, carrinho, checkout)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07250" y="1420937"/>
            <a:ext cx="217824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R$ 3.000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7034" y="2085305"/>
            <a:ext cx="1721048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 com banco de dados unificado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07250" y="2085305"/>
            <a:ext cx="217824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R$ 600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7034" y="2573313"/>
            <a:ext cx="1721048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 com taxa de entrega por CEP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07250" y="2573313"/>
            <a:ext cx="217824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R$ 300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7034" y="3061320"/>
            <a:ext cx="217824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Homologação e testes do site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07250" y="3061320"/>
            <a:ext cx="217824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R$ 500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7034" y="3372966"/>
            <a:ext cx="217824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Subtotal Site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07250" y="3372966"/>
            <a:ext cx="217824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R$ 4.400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6119" y="4199037"/>
            <a:ext cx="8151763" cy="427732"/>
          </a:xfrm>
          <a:prstGeom prst="roundRect">
            <a:avLst>
              <a:gd name="adj" fmla="val 11745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02" y="4362822"/>
            <a:ext cx="149498" cy="119583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884783" y="4329782"/>
            <a:ext cx="810071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de </a:t>
            </a:r>
            <a:r>
              <a:rPr lang="en-US" sz="90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Implantação</a:t>
            </a: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(</a:t>
            </a:r>
            <a:r>
              <a:rPr lang="en-US" sz="90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Atendente</a:t>
            </a: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Virtual + Site): R$ 9.800</a:t>
            </a: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Investimento único, sem recorrência vinculada ao módulo de desenvolvimento.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8412361" y="4842942"/>
            <a:ext cx="632445" cy="119063"/>
          </a:xfrm>
          <a:prstGeom prst="rect">
            <a:avLst/>
          </a:prstGeom>
          <a:noFill/>
          <a:ln/>
        </p:spPr>
        <p:txBody>
          <a:bodyPr wrap="none" lIns="0" tIns="44657" rIns="74428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0910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Custos Mensais Recorrentes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170756"/>
            <a:ext cx="815176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Após a implantação, os custos mensais cobrem toda a infraestrutura necessária para manter o sistema funcionando com estabilidade, suporte técnico e capacidade para até </a:t>
            </a: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1.000 atendimentos por mês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96119" y="1805360"/>
            <a:ext cx="3995365" cy="445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R$150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496119" y="2415332"/>
            <a:ext cx="3995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Hospedagem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6119" y="2703686"/>
            <a:ext cx="399536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VPS/cloud para n8n e banco de dados com alta disponibilidade.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652442" y="1805360"/>
            <a:ext cx="3995440" cy="445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R$150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4652442" y="2415332"/>
            <a:ext cx="39954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IA (Tokens)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52442" y="2703686"/>
            <a:ext cx="399544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Processamento dos atendimentos conversacionais no WhatsApp.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6119" y="3450952"/>
            <a:ext cx="3995365" cy="445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R$300</a:t>
            </a:r>
            <a:endParaRPr lang="en-US" sz="3500" dirty="0"/>
          </a:p>
        </p:txBody>
      </p:sp>
      <p:sp>
        <p:nvSpPr>
          <p:cNvPr id="11" name="Text 9"/>
          <p:cNvSpPr/>
          <p:nvPr/>
        </p:nvSpPr>
        <p:spPr>
          <a:xfrm>
            <a:off x="496119" y="4060924"/>
            <a:ext cx="3995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Manutenção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6119" y="4349279"/>
            <a:ext cx="3995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Suporte técnico contínuo para </a:t>
            </a:r>
            <a:r>
              <a:rPr lang="en-US" sz="10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Atendente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Virtual e site externo.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52442" y="3450952"/>
            <a:ext cx="3995440" cy="445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R$610</a:t>
            </a:r>
            <a:endParaRPr lang="en-US" sz="3500" dirty="0"/>
          </a:p>
        </p:txBody>
      </p:sp>
      <p:sp>
        <p:nvSpPr>
          <p:cNvPr id="14" name="Text 12"/>
          <p:cNvSpPr/>
          <p:nvPr/>
        </p:nvSpPr>
        <p:spPr>
          <a:xfrm>
            <a:off x="4652442" y="4060924"/>
            <a:ext cx="39954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Mensal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52442" y="4349279"/>
            <a:ext cx="39954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</a:t>
            </a:r>
            <a:r>
              <a:rPr lang="en-US" sz="10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total recorrente para solução completa (</a:t>
            </a:r>
            <a:r>
              <a:rPr lang="en-US" sz="10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Atendente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Virtual + Site).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407152" y="4842942"/>
            <a:ext cx="637654" cy="119063"/>
          </a:xfrm>
          <a:prstGeom prst="rect">
            <a:avLst/>
          </a:prstGeom>
          <a:noFill/>
          <a:ln/>
        </p:spPr>
        <p:txBody>
          <a:bodyPr wrap="none" lIns="0" tIns="44657" rIns="74428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B7303-66DD-8DF8-8368-D0E782892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E86377A-BBA2-CC75-5F00-17F55C99422C}"/>
              </a:ext>
            </a:extLst>
          </p:cNvPr>
          <p:cNvSpPr/>
          <p:nvPr/>
        </p:nvSpPr>
        <p:spPr>
          <a:xfrm>
            <a:off x="496119" y="490910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Formas de </a:t>
            </a:r>
            <a:r>
              <a:rPr lang="en-US" sz="265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Pagamento</a:t>
            </a: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da </a:t>
            </a:r>
            <a:r>
              <a:rPr lang="en-US" sz="265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Implantação</a:t>
            </a:r>
            <a:endParaRPr lang="en-US" sz="26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B651DBE-70AC-4539-6DDB-745325F58D78}"/>
              </a:ext>
            </a:extLst>
          </p:cNvPr>
          <p:cNvSpPr/>
          <p:nvPr/>
        </p:nvSpPr>
        <p:spPr>
          <a:xfrm>
            <a:off x="496119" y="1170757"/>
            <a:ext cx="8151763" cy="27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4800" b="1" dirty="0">
                <a:solidFill>
                  <a:srgbClr val="272525"/>
                </a:solidFill>
                <a:latin typeface="Inter" panose="020B0604020202020204" charset="0"/>
                <a:ea typeface="Inter" panose="020B0604020202020204" charset="0"/>
              </a:rPr>
              <a:t>Entrada 30% = R$ 2.940,00</a:t>
            </a:r>
            <a:br>
              <a:rPr lang="en-US" sz="4800" b="1" dirty="0">
                <a:solidFill>
                  <a:srgbClr val="272525"/>
                </a:solidFill>
                <a:latin typeface="Inter" panose="020B0604020202020204" charset="0"/>
                <a:ea typeface="Inter" panose="020B0604020202020204" charset="0"/>
              </a:rPr>
            </a:br>
            <a:br>
              <a:rPr lang="en-US" sz="4800" dirty="0">
                <a:solidFill>
                  <a:srgbClr val="272525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en-US" sz="4800" b="1" dirty="0">
                <a:solidFill>
                  <a:srgbClr val="272525"/>
                </a:solidFill>
                <a:latin typeface="Inter" panose="020B0604020202020204" charset="0"/>
                <a:ea typeface="Inter" panose="020B0604020202020204" charset="0"/>
              </a:rPr>
              <a:t>Restante </a:t>
            </a:r>
            <a:r>
              <a:rPr lang="en-US" sz="4800" b="1" dirty="0" err="1">
                <a:solidFill>
                  <a:srgbClr val="272525"/>
                </a:solidFill>
                <a:latin typeface="Inter" panose="020B0604020202020204" charset="0"/>
                <a:ea typeface="Inter" panose="020B0604020202020204" charset="0"/>
              </a:rPr>
              <a:t>em</a:t>
            </a:r>
            <a:r>
              <a:rPr lang="en-US" sz="4800" b="1" dirty="0">
                <a:solidFill>
                  <a:srgbClr val="272525"/>
                </a:solidFill>
                <a:latin typeface="Inter" panose="020B0604020202020204" charset="0"/>
                <a:ea typeface="Inter" panose="020B0604020202020204" charset="0"/>
              </a:rPr>
              <a:t> 3 </a:t>
            </a:r>
            <a:r>
              <a:rPr lang="en-US" sz="4800" b="1" dirty="0" err="1">
                <a:solidFill>
                  <a:srgbClr val="272525"/>
                </a:solidFill>
                <a:latin typeface="Inter" panose="020B0604020202020204" charset="0"/>
                <a:ea typeface="Inter" panose="020B0604020202020204" charset="0"/>
              </a:rPr>
              <a:t>vezes</a:t>
            </a:r>
            <a:r>
              <a:rPr lang="en-US" sz="4800" b="1" dirty="0">
                <a:solidFill>
                  <a:srgbClr val="272525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4800" b="1" dirty="0" err="1">
                <a:solidFill>
                  <a:srgbClr val="272525"/>
                </a:solidFill>
                <a:latin typeface="Inter" panose="020B0604020202020204" charset="0"/>
                <a:ea typeface="Inter" panose="020B0604020202020204" charset="0"/>
              </a:rPr>
              <a:t>mensais</a:t>
            </a:r>
            <a:r>
              <a:rPr lang="en-US" sz="4800" b="1" dirty="0">
                <a:solidFill>
                  <a:srgbClr val="272525"/>
                </a:solidFill>
                <a:latin typeface="Inter" panose="020B0604020202020204" charset="0"/>
                <a:ea typeface="Inter" panose="020B0604020202020204" charset="0"/>
              </a:rPr>
              <a:t> de  R$ 2.286,00 (com a </a:t>
            </a:r>
            <a:r>
              <a:rPr lang="en-US" sz="4800" b="1" dirty="0" err="1">
                <a:solidFill>
                  <a:srgbClr val="272525"/>
                </a:solidFill>
                <a:latin typeface="Inter" panose="020B0604020202020204" charset="0"/>
                <a:ea typeface="Inter" panose="020B0604020202020204" charset="0"/>
              </a:rPr>
              <a:t>primeira</a:t>
            </a:r>
            <a:r>
              <a:rPr lang="en-US" sz="4800" b="1" dirty="0">
                <a:solidFill>
                  <a:srgbClr val="272525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4800" b="1" dirty="0" err="1">
                <a:solidFill>
                  <a:srgbClr val="272525"/>
                </a:solidFill>
                <a:latin typeface="Inter" panose="020B0604020202020204" charset="0"/>
                <a:ea typeface="Inter" panose="020B0604020202020204" charset="0"/>
              </a:rPr>
              <a:t>parcela</a:t>
            </a:r>
            <a:r>
              <a:rPr lang="en-US" sz="4800" b="1" dirty="0">
                <a:solidFill>
                  <a:srgbClr val="272525"/>
                </a:solidFill>
                <a:latin typeface="Inter" panose="020B0604020202020204" charset="0"/>
                <a:ea typeface="Inter" panose="020B0604020202020204" charset="0"/>
              </a:rPr>
              <a:t> para data de entrada </a:t>
            </a:r>
            <a:r>
              <a:rPr lang="en-US" sz="4800" b="1" dirty="0" err="1">
                <a:solidFill>
                  <a:srgbClr val="272525"/>
                </a:solidFill>
                <a:latin typeface="Inter" panose="020B0604020202020204" charset="0"/>
                <a:ea typeface="Inter" panose="020B0604020202020204" charset="0"/>
              </a:rPr>
              <a:t>em</a:t>
            </a:r>
            <a:r>
              <a:rPr lang="en-US" sz="4800" b="1" dirty="0">
                <a:solidFill>
                  <a:srgbClr val="272525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4800" b="1" dirty="0" err="1">
                <a:solidFill>
                  <a:srgbClr val="272525"/>
                </a:solidFill>
                <a:latin typeface="Inter" panose="020B0604020202020204" charset="0"/>
                <a:ea typeface="Inter" panose="020B0604020202020204" charset="0"/>
              </a:rPr>
              <a:t>operação</a:t>
            </a:r>
            <a:r>
              <a:rPr lang="en-US" sz="4800" b="1" dirty="0">
                <a:solidFill>
                  <a:srgbClr val="272525"/>
                </a:solidFill>
                <a:latin typeface="Inter" panose="020B0604020202020204" charset="0"/>
                <a:ea typeface="Inter" panose="020B0604020202020204" charset="0"/>
              </a:rPr>
              <a:t>)</a:t>
            </a:r>
            <a:endParaRPr lang="en-US" sz="2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00AE8D8-1099-1884-FEFE-9BFC51D423C5}"/>
              </a:ext>
            </a:extLst>
          </p:cNvPr>
          <p:cNvSpPr/>
          <p:nvPr/>
        </p:nvSpPr>
        <p:spPr>
          <a:xfrm>
            <a:off x="8407152" y="4842942"/>
            <a:ext cx="637654" cy="119063"/>
          </a:xfrm>
          <a:prstGeom prst="rect">
            <a:avLst/>
          </a:prstGeom>
          <a:noFill/>
          <a:ln/>
        </p:spPr>
        <p:txBody>
          <a:bodyPr wrap="none" lIns="0" tIns="44657" rIns="74428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3213373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47080"/>
            <a:ext cx="47227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Cronograma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925119" y="649784"/>
            <a:ext cx="4722763" cy="678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Prazo de Desenvolvimento: 5 a 6 Semanas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3925119" y="1452786"/>
            <a:ext cx="4722763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desenvolvimento completo da solução — </a:t>
            </a:r>
            <a:r>
              <a:rPr lang="en-US" sz="8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incluindo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8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Atendente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Virtual IA e site externo — está estimado </a:t>
            </a:r>
            <a:r>
              <a:rPr lang="en-US" sz="8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" pitchFamily="34" charset="-120"/>
              </a:rPr>
              <a:t>5</a:t>
            </a: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 6 semanas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contadas a partir da aprovação do projeto e recebimento das informações necessárias da padaria.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047158" y="2006129"/>
            <a:ext cx="14288" cy="2598167"/>
          </a:xfrm>
          <a:prstGeom prst="roundRect">
            <a:avLst>
              <a:gd name="adj" fmla="val 49998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4154946" y="2121024"/>
            <a:ext cx="325562" cy="14288"/>
          </a:xfrm>
          <a:prstGeom prst="roundRect">
            <a:avLst>
              <a:gd name="adj" fmla="val 49998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3925081" y="2006129"/>
            <a:ext cx="244153" cy="244153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3965749" y="2026444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89859" y="2043410"/>
            <a:ext cx="4058022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Semana 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89859" y="2262783"/>
            <a:ext cx="4058022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Levantamento de requisitos, configuração do ambiente, banco de dados e cardápio digital.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154946" y="2850431"/>
            <a:ext cx="325562" cy="14288"/>
          </a:xfrm>
          <a:prstGeom prst="roundRect">
            <a:avLst>
              <a:gd name="adj" fmla="val 49998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3925081" y="2735535"/>
            <a:ext cx="244153" cy="244153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3965749" y="2755850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89859" y="2772817"/>
            <a:ext cx="4058022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Semana 2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89859" y="2992189"/>
            <a:ext cx="4058022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Desenvolvimento do </a:t>
            </a:r>
            <a:r>
              <a:rPr lang="en-US" sz="8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Atendente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Virtual IA e integração com WhatsApp Business API.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54946" y="3426544"/>
            <a:ext cx="325562" cy="14288"/>
          </a:xfrm>
          <a:prstGeom prst="roundRect">
            <a:avLst>
              <a:gd name="adj" fmla="val 49998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3925081" y="3311649"/>
            <a:ext cx="244153" cy="244153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3965749" y="3331964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89859" y="3348930"/>
            <a:ext cx="4058022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Semana 4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89859" y="3568303"/>
            <a:ext cx="4058022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Desenvolvimento do site responsivo, carrinho de compras e integração com API de entrega.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154946" y="4155951"/>
            <a:ext cx="325562" cy="14288"/>
          </a:xfrm>
          <a:prstGeom prst="roundRect">
            <a:avLst>
              <a:gd name="adj" fmla="val 49998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3925081" y="4041056"/>
            <a:ext cx="244153" cy="244153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3965749" y="4061371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589859" y="4078337"/>
            <a:ext cx="4058022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Semana 6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89859" y="4297710"/>
            <a:ext cx="4058022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Homologação, testes integrados, ajustes finais e entrega da solução em produção.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8365554" y="4842942"/>
            <a:ext cx="679252" cy="119063"/>
          </a:xfrm>
          <a:prstGeom prst="rect">
            <a:avLst/>
          </a:prstGeom>
          <a:noFill/>
          <a:ln/>
        </p:spPr>
        <p:txBody>
          <a:bodyPr wrap="none" lIns="0" tIns="44657" rIns="74428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2002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Observações e Pontos de Atenção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96119" y="1041425"/>
            <a:ext cx="8151763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garantir total transparência na proposta, listamos abaixo os principais pontos que devem ser considerados antes e durante a implantação do sistema.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49822"/>
            <a:ext cx="4019624" cy="14835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11239" y="1632719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6612" y="2055316"/>
            <a:ext cx="373863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Volume de IA Considerado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6612" y="2320007"/>
            <a:ext cx="3738637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custos mensais com tokens de IA foram calculados para um volume de </a:t>
            </a: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500 a 1.000 atendimentos por mês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Volumes superiores podem gerar custos adicionais proporcionais.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8183" y="1549822"/>
            <a:ext cx="4019699" cy="14835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43303" y="1632719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768676" y="2055316"/>
            <a:ext cx="373871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WhatsApp Business API — Taxas da Meta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768676" y="2320007"/>
            <a:ext cx="3738711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Meta iniciará a cobrança por conversas iniciadas pela empresa a partir de </a:t>
            </a: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outubro/2026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Este custo adicional não está incluído na recorrência atual e deve ser monitorado.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145780"/>
            <a:ext cx="4019624" cy="14835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11239" y="3228677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636612" y="3651275"/>
            <a:ext cx="373863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E-mail Corporativo Não Incluso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36612" y="3915966"/>
            <a:ext cx="3738637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criação e configuração de e-mail corporativo não faz parte do escopo desta proposta e deve ser contratada separadamente, se necessário.</a:t>
            </a:r>
            <a:endParaRPr lang="en-US" sz="9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8183" y="3145780"/>
            <a:ext cx="4019699" cy="14835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43303" y="3228677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4768676" y="3651275"/>
            <a:ext cx="373871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Banco de Dados Unificado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768676" y="3915966"/>
            <a:ext cx="3738711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os pedidos — independentemente do canal (WhatsApp ou Site) — ficam registrados na mesma base de dados, facilitando relatórios e gestão operacional da padaria.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8387804" y="4842942"/>
            <a:ext cx="657002" cy="119063"/>
          </a:xfrm>
          <a:prstGeom prst="rect">
            <a:avLst/>
          </a:prstGeom>
          <a:noFill/>
          <a:ln/>
        </p:spPr>
        <p:txBody>
          <a:bodyPr wrap="none" lIns="0" tIns="44657" rIns="74428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1716"/>
            <a:ext cx="4722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96119" y="628948"/>
            <a:ext cx="4722763" cy="1162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Pronto para Transformar o Atendimento da Salgados &amp; Cia?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96119" y="1954337"/>
            <a:ext cx="4722763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 solução foi desenhada para padarias, lanchonetes e estabelecimentos de alimentação que desejam modernizar o atendimento, reduzir a sobrecarga operacional e oferecer uma experiência de compra superior aos seus clientes.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96119" y="2634481"/>
            <a:ext cx="1501899" cy="2025104"/>
          </a:xfrm>
          <a:prstGeom prst="roundRect">
            <a:avLst>
              <a:gd name="adj" fmla="val 34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24855" y="2763217"/>
            <a:ext cx="1244426" cy="392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Aprovação da Proposta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4855" y="3220789"/>
            <a:ext cx="1244426" cy="930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 o cenário escolhido (A ou B) e assine o contrato de prestação de serviços.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106513" y="2634481"/>
            <a:ext cx="1501899" cy="2025104"/>
          </a:xfrm>
          <a:prstGeom prst="roundRect">
            <a:avLst>
              <a:gd name="adj" fmla="val 34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2235250" y="2763217"/>
            <a:ext cx="1244426" cy="392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Reunião de Briefing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235250" y="3220789"/>
            <a:ext cx="1244426" cy="930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Alinhamento do cardápio, horários, áreas de entrega e identidade visual da padaria.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716908" y="2634481"/>
            <a:ext cx="1501973" cy="2025104"/>
          </a:xfrm>
          <a:prstGeom prst="roundRect">
            <a:avLst>
              <a:gd name="adj" fmla="val 34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3845644" y="2763217"/>
            <a:ext cx="1244501" cy="586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Início do Desenvolvimento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845644" y="3414638"/>
            <a:ext cx="1244501" cy="1116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</a:t>
            </a:r>
            <a:r>
              <a:rPr lang="en-US" sz="9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até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5 a 6 semanas, seu sistema estará em produção, atendendo clientes 24/7.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938638" y="4842942"/>
            <a:ext cx="677168" cy="119063"/>
          </a:xfrm>
          <a:prstGeom prst="rect">
            <a:avLst/>
          </a:prstGeom>
          <a:noFill/>
          <a:ln/>
        </p:spPr>
        <p:txBody>
          <a:bodyPr wrap="none" lIns="0" tIns="44657" rIns="74428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1315</TotalTime>
  <Words>1403</Words>
  <Application>Microsoft Office PowerPoint</Application>
  <PresentationFormat>Apresentação na tela (16:9)</PresentationFormat>
  <Paragraphs>166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Inter</vt:lpstr>
      <vt:lpstr>Inter Bold</vt:lpstr>
      <vt:lpstr>Twemoji Mozilla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Renato Luis Ferreira</dc:creator>
  <cp:lastModifiedBy>Renato Luis Ferreira</cp:lastModifiedBy>
  <cp:revision>5</cp:revision>
  <cp:lastPrinted>2026-08-06T14:15:20Z</cp:lastPrinted>
  <dcterms:created xsi:type="dcterms:W3CDTF">2026-07-31T12:33:09Z</dcterms:created>
  <dcterms:modified xsi:type="dcterms:W3CDTF">2026-08-06T16:53:27Z</dcterms:modified>
</cp:coreProperties>
</file>